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27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060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68648" y="22147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Finite Machines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12116" y="72439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— Trade Integrity Monitor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68648" y="109015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Reference-monitor market access controls for brokers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627852" y="1635183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 dirty="0">
                <a:solidFill>
                  <a:srgbClr val="E2E8F0"/>
                </a:solidFill>
                <a:latin typeface="Calibri"/>
              </a:rPr>
              <a:t>Provable, non-</a:t>
            </a:r>
            <a:r>
              <a:rPr sz="1400" b="0" dirty="0" err="1">
                <a:solidFill>
                  <a:srgbClr val="E2E8F0"/>
                </a:solidFill>
                <a:latin typeface="Calibri"/>
              </a:rPr>
              <a:t>bypassable</a:t>
            </a:r>
            <a:r>
              <a:rPr sz="1400" b="0" dirty="0">
                <a:solidFill>
                  <a:srgbClr val="E2E8F0"/>
                </a:solidFill>
                <a:latin typeface="Calibri"/>
              </a:rPr>
              <a:t> pre-trade controls at microsecond latency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 dirty="0">
                <a:solidFill>
                  <a:srgbClr val="E2E8F0"/>
                </a:solidFill>
                <a:latin typeface="Calibri"/>
              </a:rPr>
              <a:t>Order ↔ Policy ↔ Kernel build — cryptographically bound and </a:t>
            </a:r>
            <a:r>
              <a:rPr sz="1400" b="0" dirty="0" err="1">
                <a:solidFill>
                  <a:srgbClr val="E2E8F0"/>
                </a:solidFill>
                <a:latin typeface="Calibri"/>
              </a:rPr>
              <a:t>replayable</a:t>
            </a:r>
            <a:r>
              <a:rPr sz="1400" b="0" dirty="0">
                <a:solidFill>
                  <a:srgbClr val="E2E8F0"/>
                </a:solidFill>
                <a:latin typeface="Calibri"/>
              </a:rPr>
              <a:t>.</a:t>
            </a:r>
          </a:p>
        </p:txBody>
      </p:sp>
      <p:sp>
        <p:nvSpPr>
          <p:cNvPr id="8" name="Shape 5"/>
          <p:cNvSpPr/>
          <p:nvPr/>
        </p:nvSpPr>
        <p:spPr>
          <a:xfrm>
            <a:off x="3377408" y="6210790"/>
            <a:ext cx="4754880" cy="32004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9" name="Text 6"/>
          <p:cNvSpPr/>
          <p:nvPr/>
        </p:nvSpPr>
        <p:spPr>
          <a:xfrm>
            <a:off x="3514568" y="5817598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deck (confidential)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514568" y="6210790"/>
            <a:ext cx="4480560" cy="32004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Ethical Finite Machines · 2025</a:t>
            </a:r>
            <a:endParaRPr lang="en-US" sz="1000" dirty="0"/>
          </a:p>
        </p:txBody>
      </p:sp>
      <p:pic>
        <p:nvPicPr>
          <p:cNvPr id="12" name="Picture 11" descr="A logo with a shield and apple in a circle&#10;&#10;AI-generated content may be incorrect.">
            <a:extLst>
              <a:ext uri="{FF2B5EF4-FFF2-40B4-BE49-F238E27FC236}">
                <a16:creationId xmlns:a16="http://schemas.microsoft.com/office/drawing/2014/main" id="{F8719B39-CBBB-735E-7C13-DB975FE43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573" y="2139612"/>
            <a:ext cx="3628238" cy="36282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· TIM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82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primitive for broker market access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+ prove + replay — at the order boundary.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4360" y="2057400"/>
            <a:ext cx="10972800" cy="4251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10241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sz="2000" b="0" dirty="0">
                <a:solidFill>
                  <a:srgbClr val="09192D"/>
                </a:solidFill>
                <a:latin typeface="Calibri"/>
              </a:rPr>
              <a:t>A </a:t>
            </a:r>
            <a:r>
              <a:rPr sz="2000" b="1" dirty="0">
                <a:solidFill>
                  <a:srgbClr val="09192D"/>
                </a:solidFill>
                <a:latin typeface="Calibri"/>
              </a:rPr>
              <a:t>reference-monitor kernel </a:t>
            </a:r>
            <a:r>
              <a:rPr sz="2000" b="0" dirty="0">
                <a:solidFill>
                  <a:srgbClr val="09192D"/>
                </a:solidFill>
                <a:latin typeface="Calibri"/>
              </a:rPr>
              <a:t>that authorizes orders only if </a:t>
            </a:r>
            <a:r>
              <a:rPr sz="2000" b="1" dirty="0">
                <a:solidFill>
                  <a:srgbClr val="09192D"/>
                </a:solidFill>
                <a:latin typeface="Calibri"/>
              </a:rPr>
              <a:t>pre-trade controls </a:t>
            </a:r>
            <a:r>
              <a:rPr sz="2000" b="0" dirty="0">
                <a:solidFill>
                  <a:srgbClr val="09192D"/>
                </a:solidFill>
                <a:latin typeface="Calibri"/>
              </a:rPr>
              <a:t>certify them under </a:t>
            </a:r>
            <a:r>
              <a:rPr sz="2000" b="1" dirty="0">
                <a:solidFill>
                  <a:srgbClr val="09192D"/>
                </a:solidFill>
                <a:latin typeface="Calibri"/>
              </a:rPr>
              <a:t>bounded uncertainty</a:t>
            </a:r>
            <a:r>
              <a:rPr sz="2000" b="0" dirty="0">
                <a:solidFill>
                  <a:srgbClr val="09192D"/>
                </a:solidFill>
                <a:latin typeface="Calibri"/>
              </a:rPr>
              <a:t>.</a:t>
            </a:r>
            <a:endParaRPr lang="en-US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sz="2000" b="1" dirty="0">
                <a:solidFill>
                  <a:srgbClr val="09192D"/>
                </a:solidFill>
                <a:latin typeface="Calibri"/>
              </a:rPr>
              <a:t>Risk Token Protocol</a:t>
            </a:r>
            <a:r>
              <a:rPr sz="2000" b="0" dirty="0">
                <a:solidFill>
                  <a:srgbClr val="09192D"/>
                </a:solidFill>
                <a:latin typeface="Calibri"/>
              </a:rPr>
              <a:t>: gateways transmit orders only when accompanied by a short-lived token bound to order + policy + kernel build (“no token, no order”).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sz="2000" b="1" dirty="0">
                <a:solidFill>
                  <a:srgbClr val="09192D"/>
                </a:solidFill>
                <a:latin typeface="Calibri"/>
              </a:rPr>
              <a:t>Audit-by-design</a:t>
            </a:r>
            <a:r>
              <a:rPr sz="2000" b="0" dirty="0">
                <a:solidFill>
                  <a:srgbClr val="09192D"/>
                </a:solidFill>
                <a:latin typeface="Calibri"/>
              </a:rPr>
              <a:t>: compact reason codes, tamper-evident decision logs, deterministic replay, and policy diffs.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sz="2000" b="1" dirty="0">
                <a:solidFill>
                  <a:srgbClr val="09192D"/>
                </a:solidFill>
                <a:latin typeface="Calibri"/>
              </a:rPr>
              <a:t>Open-source DEME governance engine</a:t>
            </a:r>
            <a:r>
              <a:rPr sz="2000" b="0" dirty="0">
                <a:solidFill>
                  <a:srgbClr val="09192D"/>
                </a:solidFill>
                <a:latin typeface="Calibri"/>
              </a:rPr>
              <a:t>; proprietary services/add-ons + optional HW module (</a:t>
            </a:r>
            <a:r>
              <a:rPr sz="2000" b="0" dirty="0" err="1">
                <a:solidFill>
                  <a:srgbClr val="09192D"/>
                </a:solidFill>
                <a:latin typeface="Calibri"/>
              </a:rPr>
              <a:t>SmartNIC</a:t>
            </a:r>
            <a:r>
              <a:rPr sz="2000" b="0" dirty="0">
                <a:solidFill>
                  <a:srgbClr val="09192D"/>
                </a:solidFill>
                <a:latin typeface="Calibri"/>
              </a:rPr>
              <a:t>/FPGA) for strongest non-</a:t>
            </a:r>
            <a:r>
              <a:rPr sz="2000" b="0" dirty="0" err="1">
                <a:solidFill>
                  <a:srgbClr val="09192D"/>
                </a:solidFill>
                <a:latin typeface="Calibri"/>
              </a:rPr>
              <a:t>bypassability</a:t>
            </a:r>
            <a:r>
              <a:rPr sz="2000" b="0" dirty="0">
                <a:solidFill>
                  <a:srgbClr val="09192D"/>
                </a:solidFill>
                <a:latin typeface="Calibri"/>
              </a:rPr>
              <a:t> and lowest jitter.</a:t>
            </a:r>
          </a:p>
        </p:txBody>
      </p:sp>
      <p:sp>
        <p:nvSpPr>
          <p:cNvPr id="10" name="Shape 8"/>
          <p:cNvSpPr/>
          <p:nvPr/>
        </p:nvSpPr>
        <p:spPr>
          <a:xfrm>
            <a:off x="594360" y="6446520"/>
            <a:ext cx="4754880" cy="411480"/>
          </a:xfrm>
          <a:prstGeom prst="round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31520" y="6446520"/>
            <a:ext cx="4480560" cy="41148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Beachhead: broker-dealers &amp; FCMs (DMA / sponsored access)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· TIM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82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“proof gap” in market access controls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 must enforce controls — but proving always-on, non-bypassable enforcement is hard.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31520" y="6446520"/>
            <a:ext cx="4480560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45720" tIns="22860" rIns="45720" bIns="2286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600"/>
              </a:spcBef>
              <a:buNone/>
            </a:pPr>
            <a:r>
              <a:rPr lang="en-US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after an incident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Bef>
                <a:spcPts val="600"/>
              </a:spcBef>
              <a:spcAft>
                <a:spcPts val="220"/>
              </a:spcAft>
              <a:buSzPct val="100000"/>
              <a:buChar char="•"/>
            </a:pP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policy was active at the time?</a:t>
            </a:r>
            <a:endParaRPr lang="en-US" dirty="0"/>
          </a:p>
          <a:p>
            <a:pPr marL="228600" indent="-228600">
              <a:spcBef>
                <a:spcPts val="600"/>
              </a:spcBef>
              <a:spcAft>
                <a:spcPts val="220"/>
              </a:spcAft>
              <a:buSzPct val="100000"/>
              <a:buChar char="•"/>
            </a:pP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any control bypassed (accidentally or intentionally)?</a:t>
            </a:r>
            <a:endParaRPr lang="en-US" dirty="0"/>
          </a:p>
          <a:p>
            <a:pPr marL="228600" indent="-228600">
              <a:spcBef>
                <a:spcPts val="600"/>
              </a:spcBef>
              <a:spcAft>
                <a:spcPts val="220"/>
              </a:spcAft>
              <a:buSzPct val="100000"/>
              <a:buChar char="•"/>
            </a:pP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(config, code, gateway, venue adapters)?</a:t>
            </a:r>
            <a:endParaRPr lang="en-US" dirty="0"/>
          </a:p>
          <a:p>
            <a:pPr marL="228600" indent="-228600">
              <a:spcBef>
                <a:spcPts val="600"/>
              </a:spcBef>
              <a:spcAft>
                <a:spcPts val="220"/>
              </a:spcAft>
              <a:buSzPct val="100000"/>
              <a:buChar char="•"/>
            </a:pP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replay the decision path deterministically?</a:t>
            </a:r>
            <a:endParaRPr lang="en-US" dirty="0"/>
          </a:p>
          <a:p>
            <a:pPr marL="228600" indent="-228600">
              <a:spcBef>
                <a:spcPts val="600"/>
              </a:spcBef>
              <a:spcAft>
                <a:spcPts val="220"/>
              </a:spcAft>
              <a:buSzPct val="100000"/>
              <a:buChar char="•"/>
            </a:pP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can we answer regulators, clients, and internal audit?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446520" y="201168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spcBef>
                <a:spcPts val="600"/>
              </a:spcBef>
            </a:pPr>
            <a:endParaRPr sz="2400"/>
          </a:p>
        </p:txBody>
      </p:sp>
      <p:sp>
        <p:nvSpPr>
          <p:cNvPr id="11" name="Text 9"/>
          <p:cNvSpPr/>
          <p:nvPr/>
        </p:nvSpPr>
        <p:spPr>
          <a:xfrm>
            <a:off x="672084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600"/>
              </a:spcBef>
              <a:buNone/>
            </a:pPr>
            <a:r>
              <a:rPr lang="en-US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stacks struggle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66560" y="2468880"/>
            <a:ext cx="4480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Bef>
                <a:spcPts val="600"/>
              </a:spcBef>
              <a:spcAft>
                <a:spcPts val="220"/>
              </a:spcAft>
              <a:buSzPct val="100000"/>
              <a:buChar char="•"/>
            </a:pP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infra: multiple gateways, venues, routers, and client-specific rule sets.</a:t>
            </a:r>
            <a:endParaRPr lang="en-US" dirty="0"/>
          </a:p>
          <a:p>
            <a:pPr marL="228600" indent="-228600">
              <a:spcBef>
                <a:spcPts val="600"/>
              </a:spcBef>
              <a:spcAft>
                <a:spcPts val="220"/>
              </a:spcAft>
              <a:buSzPct val="100000"/>
              <a:buChar char="•"/>
            </a:pP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pressure pushes toward fail-open workarounds and tribal-knowledge controls.</a:t>
            </a:r>
            <a:endParaRPr lang="en-US" dirty="0"/>
          </a:p>
          <a:p>
            <a:pPr marL="228600" indent="-228600">
              <a:spcBef>
                <a:spcPts val="600"/>
              </a:spcBef>
              <a:spcAft>
                <a:spcPts val="220"/>
              </a:spcAft>
              <a:buSzPct val="100000"/>
              <a:buChar char="•"/>
            </a:pP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are implemented as “features” instead of a verifiable enforcement boundary.</a:t>
            </a:r>
            <a:endParaRPr lang="en-US" dirty="0"/>
          </a:p>
          <a:p>
            <a:pPr marL="228600" indent="-228600">
              <a:spcBef>
                <a:spcPts val="600"/>
              </a:spcBef>
              <a:spcAft>
                <a:spcPts val="220"/>
              </a:spcAft>
              <a:buSzPct val="100000"/>
              <a:buChar char="•"/>
            </a:pP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is bolted-on: logs often cannot prove policy/version/integrity per order.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94360" y="6446520"/>
            <a:ext cx="4754880" cy="41148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31520" y="6446520"/>
            <a:ext cx="4480560" cy="41148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 control primitive that is non-bypassable, low-jitter, and audit-ready by default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· TIM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82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Risk Token Protocol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mediation for order actuation — “no token, no order.”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597644" y="2553819"/>
            <a:ext cx="1577104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97644" y="2855571"/>
            <a:ext cx="1577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Algo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77640" y="2553819"/>
            <a:ext cx="1577104" cy="9144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77640" y="2855571"/>
            <a:ext cx="1577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Kernel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7636" y="2579195"/>
            <a:ext cx="1577104" cy="914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57636" y="2880947"/>
            <a:ext cx="1577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Gateway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44803" y="2579195"/>
            <a:ext cx="1577104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44803" y="2880947"/>
            <a:ext cx="1577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Venue(s)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54745" y="3011019"/>
            <a:ext cx="79572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81456" y="3901971"/>
            <a:ext cx="2340864" cy="320040"/>
          </a:xfrm>
          <a:prstGeom prst="round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88720" y="395020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OrderIntent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3886200"/>
            <a:ext cx="2340864" cy="320040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77640" y="395020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+ Token (TTL)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12280" y="3886200"/>
            <a:ext cx="2579195" cy="3200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49440" y="3950207"/>
            <a:ext cx="2383312" cy="271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required to transmit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982" y="4617720"/>
            <a:ext cx="10972800" cy="178307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908922" y="4717549"/>
            <a:ext cx="110520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guarantees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14400" y="4983480"/>
            <a:ext cx="10241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220"/>
              </a:spcAft>
              <a:buSzPct val="100000"/>
              <a:buChar char="•"/>
            </a:pP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Non-bypassability: gateway egress refuses orders without a valid authorization token.</a:t>
            </a:r>
            <a:endParaRPr lang="en-US" dirty="0"/>
          </a:p>
          <a:p>
            <a:pPr marL="228600" indent="-228600">
              <a:spcAft>
                <a:spcPts val="220"/>
              </a:spcAft>
              <a:buSzPct val="100000"/>
              <a:buChar char="•"/>
            </a:pP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binding: Order ↔ PolicyBundleHash ↔ KernelBuildHash ↔ TTL.</a:t>
            </a:r>
            <a:endParaRPr lang="en-US" dirty="0"/>
          </a:p>
          <a:p>
            <a:pPr marL="228600" indent="-228600">
              <a:spcAft>
                <a:spcPts val="220"/>
              </a:spcAft>
              <a:buSzPct val="100000"/>
              <a:buChar char="•"/>
            </a:pP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Auditability: compact reason codes + tamper-evident logs enable deterministic replay.</a:t>
            </a:r>
            <a:endParaRPr lang="en-US" dirty="0"/>
          </a:p>
          <a:p>
            <a:pPr marL="228600" indent="-228600">
              <a:spcAft>
                <a:spcPts val="220"/>
              </a:spcAft>
              <a:buSzPct val="100000"/>
              <a:buChar char="•"/>
            </a:pP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Fail-closed: timeouts / stale state / missing facts ⇒ reject (no fail-open pressure).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TIM · Complete mediation</a:t>
            </a:r>
            <a:endParaRPr lang="en-US" sz="1100" dirty="0"/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5E546CCE-2DB8-DF89-231B-69C2703A8BED}"/>
              </a:ext>
            </a:extLst>
          </p:cNvPr>
          <p:cNvSpPr/>
          <p:nvPr/>
        </p:nvSpPr>
        <p:spPr>
          <a:xfrm>
            <a:off x="7934740" y="3011019"/>
            <a:ext cx="79572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A1207214-E526-4157-3FD2-57706BB8C7B5}"/>
              </a:ext>
            </a:extLst>
          </p:cNvPr>
          <p:cNvSpPr/>
          <p:nvPr/>
        </p:nvSpPr>
        <p:spPr>
          <a:xfrm>
            <a:off x="3181918" y="3011019"/>
            <a:ext cx="79572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· TIM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82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Broker-grade controls, rebuilt as a kernel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trusted core + enterprise control plane + optional HW enforcement.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548640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plane: TIM Kernel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sz="14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bounded-time checks: O(1) arithmetic + conservative interval bounds.</a:t>
            </a:r>
            <a:endParaRPr lang="en-US" sz="1400" dirty="0"/>
          </a:p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sz="14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vetoes: credit, position, notional, fat-finger, allow/deny lists, regime gates.</a:t>
            </a:r>
            <a:endParaRPr lang="en-US" sz="1400" dirty="0"/>
          </a:p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sz="14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Time-window budgets: message rate, cancel/replace, churn, impact slope, exposure slope.</a:t>
            </a:r>
            <a:endParaRPr lang="en-US" sz="1400" dirty="0"/>
          </a:p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sz="14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mint/verify: per-order authorization token bound to hashes + TTL.</a:t>
            </a:r>
            <a:endParaRPr lang="en-US" sz="1400" dirty="0"/>
          </a:p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sz="14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low jitter; safe on timeout/staleness (reject).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516636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219456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plane: Policy &amp; Audit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20840" y="2423160"/>
            <a:ext cx="4526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sz="14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policy bundles: approvals, diffs, rollouts, rollback controls.</a:t>
            </a:r>
            <a:endParaRPr lang="en-US" sz="1400" dirty="0"/>
          </a:p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sz="14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 suite (“controls CTS”): regression + certification evidence.</a:t>
            </a:r>
            <a:endParaRPr lang="en-US" sz="1400" dirty="0"/>
          </a:p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sz="14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decision logs: retention, exports, evidence packs.</a:t>
            </a:r>
            <a:endParaRPr lang="en-US" sz="1400" dirty="0"/>
          </a:p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sz="14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replay harness for incident response.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4434840"/>
            <a:ext cx="516636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461772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HW enforcement module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20840" y="4846320"/>
            <a:ext cx="4526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sz="14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SmartNIC/FPGA path for strongest “no token, no send” enforcement.</a:t>
            </a:r>
            <a:endParaRPr lang="en-US" sz="1400" dirty="0"/>
          </a:p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sz="14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keys, attestable builds, and ultra-low jitter token verification.</a:t>
            </a:r>
            <a:endParaRPr lang="en-US" sz="1400" dirty="0"/>
          </a:p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sz="14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Patented HW approach: enforce at the egress boundary, not inside app code.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TIM · Product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· TIM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82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without ripping out the stack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shadow mode; graduate to mandatory token gating.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109728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deployment options (same protocol &amp; policy artifacts)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514600"/>
            <a:ext cx="342900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26974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sidecar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43000" y="3081528"/>
            <a:ext cx="2779776" cy="320040"/>
          </a:xfrm>
          <a:prstGeom prst="round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80160" y="3145536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pilots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3566160"/>
            <a:ext cx="2880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90"/>
              </a:spcAft>
              <a:buSzPct val="100000"/>
              <a:buChar char="•"/>
            </a:pPr>
            <a:r>
              <a:rPr lang="en-US" sz="13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FIX/native gateway</a:t>
            </a:r>
            <a:endParaRPr lang="en-US" sz="1300" dirty="0"/>
          </a:p>
          <a:p>
            <a:pPr marL="228600" indent="-228600">
              <a:spcAft>
                <a:spcPts val="190"/>
              </a:spcAft>
              <a:buSzPct val="100000"/>
              <a:buChar char="•"/>
            </a:pPr>
            <a:r>
              <a:rPr lang="en-US" sz="13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Shadow-mode analytics → enforce</a:t>
            </a:r>
            <a:endParaRPr lang="en-US" sz="1300" dirty="0"/>
          </a:p>
          <a:p>
            <a:pPr marL="228600" indent="-228600">
              <a:spcAft>
                <a:spcPts val="190"/>
              </a:spcAft>
              <a:buSzPct val="100000"/>
              <a:buChar char="•"/>
            </a:pPr>
            <a:r>
              <a:rPr lang="en-US" sz="13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operational friction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70832" y="2514600"/>
            <a:ext cx="342900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45152" y="26974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SmartNIC in gateway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45152" y="3081528"/>
            <a:ext cx="4535424" cy="320040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82312" y="3145536"/>
            <a:ext cx="42611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non-bypassability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45152" y="3566160"/>
            <a:ext cx="2880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90"/>
              </a:spcAft>
              <a:buSzPct val="100000"/>
              <a:buChar char="•"/>
            </a:pPr>
            <a:r>
              <a:rPr lang="en-US" sz="13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verify/mint on NIC</a:t>
            </a:r>
            <a:endParaRPr lang="en-US" sz="1300" dirty="0"/>
          </a:p>
          <a:p>
            <a:pPr marL="228600" indent="-228600">
              <a:spcAft>
                <a:spcPts val="190"/>
              </a:spcAft>
              <a:buSzPct val="100000"/>
              <a:buChar char="•"/>
            </a:pPr>
            <a:r>
              <a:rPr lang="en-US" sz="13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enforcement below app</a:t>
            </a:r>
            <a:endParaRPr lang="en-US" sz="1300" dirty="0"/>
          </a:p>
          <a:p>
            <a:pPr marL="228600" indent="-228600">
              <a:spcAft>
                <a:spcPts val="190"/>
              </a:spcAft>
              <a:buSzPct val="100000"/>
              <a:buChar char="•"/>
            </a:pPr>
            <a:r>
              <a:rPr lang="en-US" sz="13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jitter under load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72984" y="2514600"/>
            <a:ext cx="342900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47304" y="26974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appliance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47304" y="3081528"/>
            <a:ext cx="3072384" cy="3200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84464" y="3145536"/>
            <a:ext cx="2798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Bump-in-the-wire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47304" y="3566160"/>
            <a:ext cx="2880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90"/>
              </a:spcAft>
              <a:buSzPct val="100000"/>
              <a:buChar char="•"/>
            </a:pPr>
            <a:r>
              <a:rPr lang="en-US" sz="13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non-bypassable path</a:t>
            </a:r>
            <a:endParaRPr lang="en-US" sz="1300" dirty="0"/>
          </a:p>
          <a:p>
            <a:pPr marL="228600" indent="-228600">
              <a:spcAft>
                <a:spcPts val="190"/>
              </a:spcAft>
              <a:buSzPct val="100000"/>
              <a:buChar char="•"/>
            </a:pPr>
            <a:r>
              <a:rPr lang="en-US" sz="13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A/A pairs</a:t>
            </a:r>
            <a:endParaRPr lang="en-US" sz="1300" dirty="0"/>
          </a:p>
          <a:p>
            <a:pPr marL="228600" indent="-228600">
              <a:spcAft>
                <a:spcPts val="190"/>
              </a:spcAft>
              <a:buSzPct val="100000"/>
              <a:buChar char="•"/>
            </a:pPr>
            <a:r>
              <a:rPr lang="en-US" sz="13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DMA / sponsored access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TIM · Deployment options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· TIM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82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inevitable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access is becoming a security problem: supply chain, attestations, and provable enforcement.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31520" y="6446520"/>
            <a:ext cx="4480560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45720" tIns="22860" rIns="45720" bIns="2286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809957" y="20574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Converging pressures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399" y="2468880"/>
            <a:ext cx="11048301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Bef>
                <a:spcPts val="600"/>
              </a:spcBef>
              <a:spcAft>
                <a:spcPts val="220"/>
              </a:spcAft>
              <a:buSzPct val="100000"/>
              <a:buChar char="•"/>
            </a:pP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complexity: multi-venue routing, fragmented gateways, outsourced execution, multi-tenant stacks.</a:t>
            </a:r>
            <a:endParaRPr lang="en-US" dirty="0"/>
          </a:p>
          <a:p>
            <a:pPr marL="228600" indent="-228600">
              <a:spcBef>
                <a:spcPts val="600"/>
              </a:spcBef>
              <a:spcAft>
                <a:spcPts val="220"/>
              </a:spcAft>
              <a:buSzPct val="100000"/>
              <a:buChar char="•"/>
            </a:pP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pressure: controls must be microsecond-class and low-jitter — no “slow compliance layer.”</a:t>
            </a:r>
            <a:endParaRPr lang="en-US" dirty="0"/>
          </a:p>
          <a:p>
            <a:pPr marL="228600" indent="-228600">
              <a:spcBef>
                <a:spcPts val="600"/>
              </a:spcBef>
              <a:spcAft>
                <a:spcPts val="220"/>
              </a:spcAft>
              <a:buSzPct val="100000"/>
              <a:buChar char="•"/>
            </a:pP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are expensive: investigations demand policy/version reconstruction and replayable evidence.</a:t>
            </a:r>
            <a:endParaRPr lang="en-US" dirty="0"/>
          </a:p>
          <a:p>
            <a:pPr marL="228600" indent="-228600">
              <a:spcBef>
                <a:spcPts val="600"/>
              </a:spcBef>
              <a:spcAft>
                <a:spcPts val="220"/>
              </a:spcAft>
              <a:buSzPct val="100000"/>
              <a:buChar char="•"/>
            </a:pP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mindset is mainstream: signed artifacts, attestations, and provable supply chains are expected.</a:t>
            </a:r>
            <a:endParaRPr lang="en-US" dirty="0"/>
          </a:p>
          <a:p>
            <a:pPr marL="228600" indent="-228600">
              <a:spcBef>
                <a:spcPts val="600"/>
              </a:spcBef>
              <a:spcAft>
                <a:spcPts val="220"/>
              </a:spcAft>
              <a:buSzPct val="100000"/>
              <a:buChar char="•"/>
            </a:pP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AI/automation increases blast radius: when failures happen, they happen faster and wider.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94360" y="6446520"/>
            <a:ext cx="4754880" cy="411480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31520" y="6446520"/>
            <a:ext cx="4480560" cy="41148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is “security engineering” applied to market access: enforce, prove, replay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· TIM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82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Beachhead: brokers &amp; FCMs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where control obligations and incident pain are highest.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54864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ICP (6–18 months)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220"/>
              </a:spcAft>
              <a:buSzPct val="100000"/>
              <a:buChar char="•"/>
            </a:pPr>
            <a:r>
              <a:rPr lang="en-US" sz="16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Futures FCMs &amp; introducing brokers: pre-trade risk + kill functionality + audit evidence.</a:t>
            </a:r>
            <a:endParaRPr lang="en-US" sz="1600" dirty="0"/>
          </a:p>
          <a:p>
            <a:pPr marL="228600" indent="-228600">
              <a:spcAft>
                <a:spcPts val="220"/>
              </a:spcAft>
              <a:buSzPct val="100000"/>
              <a:buChar char="•"/>
            </a:pPr>
            <a:r>
              <a:rPr lang="en-US" sz="16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Equities broker-dealers offering DMA / sponsored access.</a:t>
            </a:r>
            <a:endParaRPr lang="en-US" sz="1600" dirty="0"/>
          </a:p>
          <a:p>
            <a:pPr marL="228600" indent="-228600">
              <a:spcAft>
                <a:spcPts val="220"/>
              </a:spcAft>
              <a:buSzPct val="100000"/>
              <a:buChar char="•"/>
            </a:pPr>
            <a:r>
              <a:rPr lang="en-US" sz="16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desks managing many client policies across multiple gateways/venues.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516636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219456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(18–36 months)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20840" y="2468880"/>
            <a:ext cx="4526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220"/>
              </a:spcAft>
              <a:buSzPct val="100000"/>
              <a:buChar char="•"/>
            </a:pPr>
            <a:r>
              <a:rPr lang="en-US" sz="16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brokerage overlays: standardized policy artifacts across desks and primes.</a:t>
            </a:r>
            <a:endParaRPr lang="en-US" sz="1600" dirty="0"/>
          </a:p>
          <a:p>
            <a:pPr marL="228600" indent="-228600">
              <a:spcAft>
                <a:spcPts val="220"/>
              </a:spcAft>
              <a:buSzPct val="100000"/>
              <a:buChar char="•"/>
            </a:pPr>
            <a:r>
              <a:rPr lang="en-US" sz="16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Venue-side “TIM-compatible” conformance programs (certified controls).</a:t>
            </a:r>
            <a:endParaRPr lang="en-US" sz="1600" dirty="0"/>
          </a:p>
          <a:p>
            <a:pPr marL="228600" indent="-228600">
              <a:spcAft>
                <a:spcPts val="220"/>
              </a:spcAft>
              <a:buSzPct val="100000"/>
              <a:buChar char="•"/>
            </a:pPr>
            <a:r>
              <a:rPr lang="en-US" sz="16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policy + audit services; certified module marketplace.</a:t>
            </a:r>
            <a:endParaRPr lang="en-US" sz="1600" dirty="0"/>
          </a:p>
          <a:p>
            <a:pPr marL="228600" indent="-228600">
              <a:spcAft>
                <a:spcPts val="220"/>
              </a:spcAft>
              <a:buSzPct val="100000"/>
              <a:buChar char="•"/>
            </a:pPr>
            <a:r>
              <a:rPr lang="en-US" sz="16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Cross-domain: any system with a clean actuation boundary (finance → cyber → physical).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TIM · Market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· TIM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82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risk gateway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enforce checks — TIM adds cryptographic proof + replayable evidence as a primitive.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10972800" cy="449398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TIM differs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514600"/>
            <a:ext cx="1024128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" name="Shape 8"/>
          <p:cNvSpPr/>
          <p:nvPr/>
        </p:nvSpPr>
        <p:spPr>
          <a:xfrm>
            <a:off x="914400" y="2514600"/>
            <a:ext cx="10241280" cy="54864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1143000" y="2670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2670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pre-trade risk systems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66760" y="2670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TIM</a:t>
            </a:r>
            <a:endParaRPr lang="en-US" sz="1400" b="1" dirty="0"/>
          </a:p>
        </p:txBody>
      </p:sp>
      <p:sp>
        <p:nvSpPr>
          <p:cNvPr id="14" name="Shape 12"/>
          <p:cNvSpPr/>
          <p:nvPr/>
        </p:nvSpPr>
        <p:spPr>
          <a:xfrm>
            <a:off x="914400" y="3063240"/>
            <a:ext cx="10241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1143000" y="3218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limits &amp; throttles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32186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3218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(kernelized + bounded-time)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730752"/>
            <a:ext cx="10241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9" name="Text 17"/>
          <p:cNvSpPr/>
          <p:nvPr/>
        </p:nvSpPr>
        <p:spPr>
          <a:xfrm>
            <a:off x="114300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Non-bypassable boundary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bypassable via alternate paths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66760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Token-gated actuation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(“no token, no order”)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398264"/>
            <a:ext cx="10241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3" name="Text 21"/>
          <p:cNvSpPr/>
          <p:nvPr/>
        </p:nvSpPr>
        <p:spPr>
          <a:xfrm>
            <a:off x="1143000" y="45537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Per-order cryptographic binding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83480" y="45537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66760" y="45537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↔ Policy ↔ Build ↔ TTL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065776"/>
            <a:ext cx="10241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7" name="Text 25"/>
          <p:cNvSpPr/>
          <p:nvPr/>
        </p:nvSpPr>
        <p:spPr>
          <a:xfrm>
            <a:off x="1143000" y="52212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replay &amp; proofs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83480" y="522122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/ inconsistent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66760" y="52212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replay harness + evidence packs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14400" y="5733288"/>
            <a:ext cx="10241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1" name="Text 29"/>
          <p:cNvSpPr/>
          <p:nvPr/>
        </p:nvSpPr>
        <p:spPr>
          <a:xfrm>
            <a:off x="1143000" y="58887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vector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83480" y="588873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Vendor-specific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66760" y="588873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OSS core + conformance suite + certification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TIM · Competitive differentiation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· TIM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82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 protocol + evidence + enforcement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copy because it changes the control boundary, not just the checks.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10972800" cy="317523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14400" y="2768366"/>
            <a:ext cx="10241280" cy="31752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Bef>
                <a:spcPts val="600"/>
              </a:spcBef>
              <a:spcAft>
                <a:spcPts val="220"/>
              </a:spcAft>
              <a:buSzPct val="100000"/>
              <a:buChar char="•"/>
            </a:pPr>
            <a:r>
              <a:rPr lang="en-US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moat: </a:t>
            </a: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token-gated actuation makes bypass cryptographically hard and operationally visible.</a:t>
            </a:r>
            <a:endParaRPr lang="en-US" dirty="0"/>
          </a:p>
          <a:p>
            <a:pPr marL="228600" indent="-228600">
              <a:spcBef>
                <a:spcPts val="600"/>
              </a:spcBef>
              <a:spcAft>
                <a:spcPts val="220"/>
              </a:spcAft>
              <a:buSzPct val="100000"/>
              <a:buChar char="•"/>
            </a:pPr>
            <a:r>
              <a:rPr lang="en-US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moat: </a:t>
            </a: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logs + deterministic replay = incident-ready by default.</a:t>
            </a:r>
            <a:endParaRPr lang="en-US" dirty="0"/>
          </a:p>
          <a:p>
            <a:pPr marL="228600" indent="-228600">
              <a:spcBef>
                <a:spcPts val="600"/>
              </a:spcBef>
              <a:spcAft>
                <a:spcPts val="220"/>
              </a:spcAft>
              <a:buSzPct val="100000"/>
              <a:buChar char="•"/>
            </a:pPr>
            <a:r>
              <a:rPr lang="en-US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moat: </a:t>
            </a: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 suite + certified builds become the procurement yardstick.</a:t>
            </a:r>
            <a:endParaRPr lang="en-US" dirty="0"/>
          </a:p>
          <a:p>
            <a:pPr marL="228600" indent="-228600">
              <a:spcBef>
                <a:spcPts val="600"/>
              </a:spcBef>
              <a:spcAft>
                <a:spcPts val="220"/>
              </a:spcAft>
              <a:buSzPct val="100000"/>
              <a:buChar char="•"/>
            </a:pPr>
            <a:r>
              <a:rPr lang="en-US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moat: </a:t>
            </a: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wrappers for FIX and native gateways; policy-bundle interoperability.</a:t>
            </a:r>
            <a:endParaRPr lang="en-US" dirty="0"/>
          </a:p>
          <a:p>
            <a:pPr marL="228600" indent="-228600">
              <a:spcBef>
                <a:spcPts val="600"/>
              </a:spcBef>
              <a:spcAft>
                <a:spcPts val="220"/>
              </a:spcAft>
              <a:buSzPct val="100000"/>
              <a:buChar char="•"/>
            </a:pPr>
            <a:r>
              <a:rPr lang="en-US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 moat: </a:t>
            </a: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patented SmartNIC/FPGA enforcement module for strongest egress control + ultra-low jitter.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TIM · Moat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· TIM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82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with evidence, expand to enforcement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pilots → mandatory tokens → standardization.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6446520"/>
            <a:ext cx="4480560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45720" tIns="22860" rIns="45720" bIns="2286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motion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914400" y="2606040"/>
            <a:ext cx="102412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0" name="Text 8"/>
          <p:cNvSpPr/>
          <p:nvPr/>
        </p:nvSpPr>
        <p:spPr>
          <a:xfrm>
            <a:off x="1143000" y="27706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Shadow mode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37560" y="2770632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deploy; log would-rejects; generate audit artifacts; zero disruption.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914400" y="3474720"/>
            <a:ext cx="102412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3" name="Text 11"/>
          <p:cNvSpPr/>
          <p:nvPr/>
        </p:nvSpPr>
        <p:spPr>
          <a:xfrm>
            <a:off x="1143000" y="36393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Enforce on subset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37560" y="3639312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enforcement for selected flows; tune buffers; prove stability.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14400" y="4343400"/>
            <a:ext cx="102412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6" name="Text 14"/>
          <p:cNvSpPr/>
          <p:nvPr/>
        </p:nvSpPr>
        <p:spPr>
          <a:xfrm>
            <a:off x="1143000" y="45079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Mandatory tokens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37560" y="4507992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tokens mandatory for all egress; close bypass paths.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914400" y="6446520"/>
            <a:ext cx="10241280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143000" y="53766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Standardize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37560" y="5376672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conformance suite + policy bundles across gateways/clients; expand footprint.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94360" y="6446520"/>
            <a:ext cx="4754880" cy="411480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31520" y="6446520"/>
            <a:ext cx="4480560" cy="41148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deliverable: “Proof Pack” (policy hashes, decision logs, replay scripts, conformance results)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· TIM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82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pricing aligned to risk reduction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ACV + expansion across gateways/venues/clients; low marginal cost after integrations.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5486400" cy="378930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license per gateway / colo cluster (software).</a:t>
            </a:r>
            <a:endParaRPr lang="en-US" dirty="0"/>
          </a:p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replay package: </a:t>
            </a: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retention, reporting, compliance exports.</a:t>
            </a:r>
            <a:endParaRPr lang="en-US" dirty="0"/>
          </a:p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 for first deployments: </a:t>
            </a: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tuning + evidence pack.</a:t>
            </a:r>
            <a:endParaRPr lang="en-US" dirty="0"/>
          </a:p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 enforcement module</a:t>
            </a: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appliance / SmartNIC licensing + support.</a:t>
            </a:r>
            <a:endParaRPr lang="en-US" dirty="0"/>
          </a:p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</a:t>
            </a: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EM modules + managed policy hosting.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5166360" cy="378930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219456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sticky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20840" y="2468880"/>
            <a:ext cx="4526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 the control boundary (actuation gating).</a:t>
            </a:r>
            <a:endParaRPr lang="en-US" dirty="0"/>
          </a:p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+ audit pipelines become operational infrastructure.</a:t>
            </a:r>
            <a:endParaRPr lang="en-US" dirty="0"/>
          </a:p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 suite creates organization-wide standardization.</a:t>
            </a:r>
            <a:endParaRPr lang="en-US" dirty="0"/>
          </a:p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Expansion: </a:t>
            </a:r>
            <a:r>
              <a:rPr lang="en-US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gateways, venues, desks, and client policies.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TIM · Business model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· TIM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82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governance engine + reference architecture; seeking broker design partners for pilots.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5486400" cy="408292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spcBef>
                <a:spcPts val="600"/>
              </a:spcBef>
            </a:pP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today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Bef>
                <a:spcPts val="600"/>
              </a:spcBef>
              <a:spcAft>
                <a:spcPts val="210"/>
              </a:spcAft>
              <a:buSzPct val="100000"/>
              <a:buChar char="•"/>
            </a:pPr>
            <a:r>
              <a:rPr lang="en-US" sz="20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DEME governance core: profile artifacts, hard veto semantics, explainable reason codes.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210"/>
              </a:spcAft>
              <a:buSzPct val="100000"/>
              <a:buChar char="•"/>
            </a:pPr>
            <a:r>
              <a:rPr lang="en-US" sz="20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design for Risk Token Protocol and tamper-evident audit logs.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210"/>
              </a:spcAft>
              <a:buSzPct val="100000"/>
              <a:buChar char="•"/>
            </a:pPr>
            <a:r>
              <a:rPr lang="en-US" sz="20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code paths showing end-to-end “evaluate → decision → rationale.”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210"/>
              </a:spcAft>
              <a:buSzPct val="100000"/>
              <a:buChar char="•"/>
            </a:pPr>
            <a:r>
              <a:rPr lang="en-US" sz="20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filed on HW enforcement approach (SmartNIC/FPGA egress gating).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5166360" cy="408292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spcBef>
                <a:spcPts val="600"/>
              </a:spcBef>
            </a:pPr>
            <a:endParaRPr lang="en-US" sz="2800"/>
          </a:p>
        </p:txBody>
      </p:sp>
      <p:sp>
        <p:nvSpPr>
          <p:cNvPr id="11" name="Text 9"/>
          <p:cNvSpPr/>
          <p:nvPr/>
        </p:nvSpPr>
        <p:spPr>
          <a:xfrm>
            <a:off x="6675120" y="219456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validate in pilots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20840" y="2468880"/>
            <a:ext cx="4526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Bef>
                <a:spcPts val="600"/>
              </a:spcBef>
              <a:spcAft>
                <a:spcPts val="210"/>
              </a:spcAft>
              <a:buSzPct val="100000"/>
              <a:buChar char="•"/>
            </a:pPr>
            <a:r>
              <a:rPr lang="en-US" sz="20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Shadow-mode reject/near-miss analytics on real gateway traffic.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210"/>
              </a:spcAft>
              <a:buSzPct val="100000"/>
              <a:buChar char="•"/>
            </a:pPr>
            <a:r>
              <a:rPr lang="en-US" sz="20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replay + evidence pack for a defined incident scenario.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210"/>
              </a:spcAft>
              <a:buSzPct val="100000"/>
              <a:buChar char="•"/>
            </a:pPr>
            <a:r>
              <a:rPr lang="en-US" sz="20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Latency/jitter benchmarks: added overhead on the critical path.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210"/>
              </a:spcAft>
              <a:buSzPct val="100000"/>
              <a:buChar char="•"/>
            </a:pPr>
            <a:r>
              <a:rPr lang="en-US" sz="20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rollout: policy signing, diffing, and controlled changes.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TIM · Status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· TIM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82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month plan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pilots, convert to paid deployments, then harden with HW enforcement.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1097280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914400" y="2606040"/>
            <a:ext cx="1024128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0" name="Text 8"/>
          <p:cNvSpPr/>
          <p:nvPr/>
        </p:nvSpPr>
        <p:spPr>
          <a:xfrm>
            <a:off x="1143000" y="2788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34640" y="2761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FIX gateway integration (shadow mode), policy bundle signing &amp; diffs, replay harness v0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410712"/>
            <a:ext cx="1024128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3" name="Text 11"/>
          <p:cNvSpPr/>
          <p:nvPr/>
        </p:nvSpPr>
        <p:spPr>
          <a:xfrm>
            <a:off x="1143000" y="3593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3464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 suite v1, evidence packs, first design partner pilot (shadow → enforce subset)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4215384"/>
            <a:ext cx="1024128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6" name="Text 14"/>
          <p:cNvSpPr/>
          <p:nvPr/>
        </p:nvSpPr>
        <p:spPr>
          <a:xfrm>
            <a:off x="1143000" y="43982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34640" y="43708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token gating in gateway egress; P99 latency/jitter benchmarks; first paid pilot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52029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months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834640" y="517550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deployment + expansion; enterprise audit pipeline; HW module prototype in a customer-like environment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60076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months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34640" y="598017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sales motion; certified build program; HW enforcement option for high-integrity DMA use cases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TIM · Roadmap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· TIM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82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Founder-led, operator-supported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remains CEO/CTO; hire a GTM operator + FPGA engineer; use contractors for shows/docs early.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5486400" cy="357119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Bond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CEO/CTO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24612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sz="16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DEME/SGE reference implementation and governance artifacts.</a:t>
            </a:r>
            <a:endParaRPr lang="en-US" sz="1600" dirty="0"/>
          </a:p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sz="16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</a:t>
            </a:r>
            <a:r>
              <a:rPr lang="en-US" sz="16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kernels, auditability, and fail-closed safety semantics.</a:t>
            </a:r>
            <a:endParaRPr lang="en-US" sz="1600" dirty="0"/>
          </a:p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sz="16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filed on HW enforcement approach for non-bypassable market access.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37960" y="6537960"/>
            <a:ext cx="4480560" cy="320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45720" tIns="22860" rIns="45720" bIns="2286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3" name="Text 11"/>
          <p:cNvSpPr/>
          <p:nvPr/>
        </p:nvSpPr>
        <p:spPr>
          <a:xfrm>
            <a:off x="6675120" y="219456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hiring plan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0840" y="2468880"/>
            <a:ext cx="4526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sz="16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Head of Market Access (sales/BD + sales engineering): broker pilots, procurement, partnerships.</a:t>
            </a:r>
            <a:endParaRPr lang="en-US" sz="1600" dirty="0"/>
          </a:p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sz="16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FPGA/SmartNIC engineer: token-gated egress enforcement + low-jitter path (Phase 2).</a:t>
            </a:r>
            <a:endParaRPr lang="en-US" sz="1600" dirty="0"/>
          </a:p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sz="16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+ QA: contractor → hire once pilots demand enterprise-grade release cadence.</a:t>
            </a:r>
            <a:endParaRPr lang="en-US" sz="1600" dirty="0"/>
          </a:p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lang="en-US" sz="160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Marketing/shows/demos: contractor/agency for targeted events once messaging is validated.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0" y="6537960"/>
            <a:ext cx="4754880" cy="320040"/>
          </a:xfrm>
          <a:prstGeom prst="round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537960" y="6537960"/>
            <a:ext cx="4480560" cy="32004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Advisors: broker market access + enterprise security + FPGA trading infra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· TIM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235440" y="182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to reach repeatable broker deployments and a hardened non-bypassable kernel.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331720"/>
            <a:ext cx="1097280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8" name="Text 6"/>
          <p:cNvSpPr/>
          <p:nvPr/>
        </p:nvSpPr>
        <p:spPr>
          <a:xfrm>
            <a:off x="1082040" y="243459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$5.0M Seed (18–24 months runway)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60120" y="27889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 (high level):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60120" y="2857500"/>
            <a:ext cx="9403080" cy="26111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b="1" dirty="0">
                <a:solidFill>
                  <a:srgbClr val="09192D"/>
                </a:solidFill>
                <a:latin typeface="Calibri"/>
              </a:rPr>
              <a:t>Hire: </a:t>
            </a:r>
            <a:r>
              <a:rPr b="0" dirty="0">
                <a:solidFill>
                  <a:srgbClr val="09192D"/>
                </a:solidFill>
                <a:latin typeface="Calibri"/>
              </a:rPr>
              <a:t>Head of Market Access (GTM) + Senior FPGA/</a:t>
            </a:r>
            <a:r>
              <a:rPr b="0" dirty="0" err="1">
                <a:solidFill>
                  <a:srgbClr val="09192D"/>
                </a:solidFill>
                <a:latin typeface="Calibri"/>
              </a:rPr>
              <a:t>SmartNIC</a:t>
            </a:r>
            <a:r>
              <a:rPr b="0" dirty="0">
                <a:solidFill>
                  <a:srgbClr val="09192D"/>
                </a:solidFill>
                <a:latin typeface="Calibri"/>
              </a:rPr>
              <a:t> engineer; selective contractors for docs/events.</a:t>
            </a:r>
            <a:endParaRPr lang="en-US" dirty="0"/>
          </a:p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b="1" dirty="0">
                <a:solidFill>
                  <a:srgbClr val="09192D"/>
                </a:solidFill>
                <a:latin typeface="Calibri"/>
              </a:rPr>
              <a:t>Ship: </a:t>
            </a:r>
            <a:r>
              <a:rPr b="0" dirty="0">
                <a:solidFill>
                  <a:srgbClr val="09192D"/>
                </a:solidFill>
                <a:latin typeface="Calibri"/>
              </a:rPr>
              <a:t>inline FIX integration, conformance suite, deterministic replay, and mandatory token-gated enforcement.</a:t>
            </a:r>
          </a:p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b="1" dirty="0">
                <a:solidFill>
                  <a:srgbClr val="09192D"/>
                </a:solidFill>
                <a:latin typeface="Calibri"/>
              </a:rPr>
              <a:t>Validate: </a:t>
            </a:r>
            <a:r>
              <a:rPr b="0" dirty="0">
                <a:solidFill>
                  <a:srgbClr val="09192D"/>
                </a:solidFill>
                <a:latin typeface="Calibri"/>
              </a:rPr>
              <a:t>2–3 broker pilots → at least 1 paid deployment; publish benchmarked performance &amp; evidence packs.</a:t>
            </a:r>
          </a:p>
          <a:p>
            <a:pPr marL="228600" indent="-228600">
              <a:spcAft>
                <a:spcPts val="210"/>
              </a:spcAft>
              <a:buSzPct val="100000"/>
              <a:buChar char="•"/>
            </a:pPr>
            <a:r>
              <a:rPr b="1" dirty="0">
                <a:solidFill>
                  <a:srgbClr val="09192D"/>
                </a:solidFill>
                <a:latin typeface="Calibri"/>
              </a:rPr>
              <a:t>Harden: </a:t>
            </a:r>
            <a:r>
              <a:rPr b="0" dirty="0">
                <a:solidFill>
                  <a:srgbClr val="09192D"/>
                </a:solidFill>
                <a:latin typeface="Calibri"/>
              </a:rPr>
              <a:t>security, signing, supply chain, and HW module prototype for high-integrity DMA scenarios.</a:t>
            </a:r>
          </a:p>
        </p:txBody>
      </p:sp>
      <p:sp>
        <p:nvSpPr>
          <p:cNvPr id="11" name="Text 9"/>
          <p:cNvSpPr/>
          <p:nvPr/>
        </p:nvSpPr>
        <p:spPr>
          <a:xfrm>
            <a:off x="68580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contact@ethicalfinite.com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85800" y="6537960"/>
            <a:ext cx="4754880" cy="320040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22960" y="6537960"/>
            <a:ext cx="4480560" cy="32004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 core is open source · Services + add-ons + HW module are proprietary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a shield and a shield in the middle&#10;&#10;AI-generated content may be incorrect.">
            <a:extLst>
              <a:ext uri="{FF2B5EF4-FFF2-40B4-BE49-F238E27FC236}">
                <a16:creationId xmlns:a16="http://schemas.microsoft.com/office/drawing/2014/main" id="{3D67DDFF-9CF7-0BD6-5DE0-6CFDF34E1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624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1951</Words>
  <Application>Microsoft Office PowerPoint</Application>
  <PresentationFormat>Widescreen</PresentationFormat>
  <Paragraphs>257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Ethical Finite Machines</dc:creator>
  <cp:lastModifiedBy>Andrew Bond</cp:lastModifiedBy>
  <cp:revision>4</cp:revision>
  <dcterms:created xsi:type="dcterms:W3CDTF">2025-12-21T04:04:53Z</dcterms:created>
  <dcterms:modified xsi:type="dcterms:W3CDTF">2025-12-21T05:36:17Z</dcterms:modified>
</cp:coreProperties>
</file>